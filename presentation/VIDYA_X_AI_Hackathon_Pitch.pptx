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38BDF8"/>
                </a:solidFill>
              </a:defRPr>
            </a:pPr>
            <a:r>
              <a:t>VIDYA-X AI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Your Course-Aware, Adaptive &amp; Multimodal AI Tutor</a:t>
            </a:r>
          </a:p>
          <a:p>
            <a:pPr>
              <a:defRPr sz="1800" i="1">
                <a:solidFill>
                  <a:srgbClr val="94A3B8"/>
                </a:solidFill>
              </a:defRPr>
            </a:pPr>
            <a:r>
              <a:t>"Learn from your material. Get cited answers. Practice intelligently. Improve continuously."</a:t>
            </a:r>
          </a:p>
          <a:p>
            <a:br/>
            <a:pPr>
              <a:defRPr sz="1400">
                <a:solidFill>
                  <a:srgbClr val="38BDF8"/>
                </a:solidFill>
              </a:defRPr>
            </a:pPr>
            <a:r>
              <a:t>Multimodal AI Hackathon 2026 | Track D: Personalized Tutoring &amp; Adaptive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VIDYA-X AI — HACKATHON PITCH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The Problem: Why Generic AI Fails University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38BDF8"/>
                </a:solidFill>
              </a:defRPr>
            </a:pPr>
            <a:r>
              <a:t>• 1. Ungrounded Hallucinations: </a:t>
            </a:r>
            <a:r>
              <a:rPr b="0">
                <a:solidFill>
                  <a:srgbClr val="F8FAFC"/>
                </a:solidFill>
              </a:rPr>
              <a:t>Generic LLMs fabricate formulas and definitions outside the student's syllabus.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2. Broken Source Traceability: </a:t>
            </a:r>
            <a:r>
              <a:rPr b="0">
                <a:solidFill>
                  <a:srgbClr val="F8FAFC"/>
                </a:solidFill>
              </a:rPr>
              <a:t>Students cannot verify which textbook page, slide, or video timestamp an explanation came from.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3. Static, One-Size-Fits-All Quizzes: </a:t>
            </a:r>
            <a:r>
              <a:rPr b="0">
                <a:solidFill>
                  <a:srgbClr val="F8FAFC"/>
                </a:solidFill>
              </a:rPr>
              <a:t>Standard quiz tools don't adapt difficulty or track cognitive skill acquisition.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4. Superficial Error Feedback: </a:t>
            </a:r>
            <a:r>
              <a:rPr b="0">
                <a:solidFill>
                  <a:srgbClr val="F8FAFC"/>
                </a:solidFill>
              </a:rPr>
              <a:t>Marking an answer 'incorrect' fails to diagnose underlying conceptual misconceptions.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5. Disconnected Study Habits: </a:t>
            </a:r>
            <a:r>
              <a:rPr b="0">
                <a:solidFill>
                  <a:srgbClr val="F8FAFC"/>
                </a:solidFill>
              </a:rPr>
              <a:t>Notes, flashcards, quizzes, and calendars exist in disconnected silos without spaced repetition.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VIDYA-X AI — HACKATHON PITCH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The Solution: A Closed-Loop Cognitive Mastery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500">
                <a:solidFill>
                  <a:srgbClr val="F8FAFC"/>
                </a:solidFill>
              </a:defRPr>
            </a:pPr>
            <a:r>
              <a:t>• 1. Multimodal Ingestion: Ingest PDFs, PPTX slides, and MP4 videos with coordinate preservation.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2. Knowledge Structuring: Build course-isolated knowledge graphs with pgvector semantic embeddings.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3. Grounded AI Tutor: Answer student questions with exact citations &amp; safe out-of-domain abstention.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4. Adaptive Practice: Generate MCQ, short-answer, and numerical quizzes matched to student mastery.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5. BKT Learner Modeling: Track fine-grained latent concept mastery via pure Bayesian mathematics.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6. Misconception Remediation: Isolate systematic errors with contrast cards, worked examples, &amp; self-checks.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• 7. Spaced Repetition Planner: Schedule daily Leitner flashcard reviews and exam-ready study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VIDYA-X AI — HACKATHON PITCH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Technical Architecture: Production-Ready &amp; Modular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38BDF8"/>
                </a:solidFill>
              </a:defRPr>
            </a:pPr>
            <a:r>
              <a:t>• Frontend Tier: </a:t>
            </a:r>
            <a:r>
              <a:rPr b="0">
                <a:solidFill>
                  <a:srgbClr val="F8FAFC"/>
                </a:solidFill>
              </a:rPr>
              <a:t>Zero-framework HTML5 / CSS3 / Vanilla ES-Module JavaScript (sub-millisecond loads).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Application Tier: </a:t>
            </a:r>
            <a:r>
              <a:rPr b="0">
                <a:solidFill>
                  <a:srgbClr val="F8FAFC"/>
                </a:solidFill>
              </a:rPr>
              <a:t>FastAPI with Python 3.12, strict Pydantic validation, async endpoints, and health probes.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Persistence &amp; Vector Store: </a:t>
            </a:r>
            <a:r>
              <a:rPr b="0">
                <a:solidFill>
                  <a:srgbClr val="F8FAFC"/>
                </a:solidFill>
              </a:rPr>
              <a:t>PostgreSQL 16 with pgvector HNSW indexing (with pure Python/SQLite fallback).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Multimodal Extraction: </a:t>
            </a:r>
            <a:r>
              <a:rPr b="0">
                <a:solidFill>
                  <a:srgbClr val="F8FAFC"/>
                </a:solidFill>
              </a:rPr>
              <a:t>PyMuPDF (PDF), python-pptx (Slides), FFmpeg + faster-whisper (Video transcription).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Cognitive Engines: </a:t>
            </a:r>
            <a:r>
              <a:rPr b="0">
                <a:solidFill>
                  <a:srgbClr val="F8FAFC"/>
                </a:solidFill>
              </a:rPr>
              <a:t>Pure mathematical Bayesian Knowledge Tracing (BKT) + Leitner spaced repetition.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VIDYA-X AI — HACKATHON PITCH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Evaluation &amp; Verification: Honest, Reproducible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22C55E"/>
                </a:solidFill>
              </a:defRPr>
            </a:pPr>
            <a:r>
              <a:t>• Automated Test Suite: </a:t>
            </a:r>
            <a:r>
              <a:rPr b="0">
                <a:solidFill>
                  <a:srgbClr val="F8FAFC"/>
                </a:solidFill>
              </a:rPr>
              <a:t>68 / 68 Tests Passing (100%) across BKT, Quiz, Adaptive, Remediation, Study Plan, and Visuals.</a:t>
            </a:r>
          </a:p>
          <a:p>
            <a:pPr>
              <a:defRPr b="1" sz="1600">
                <a:solidFill>
                  <a:srgbClr val="22C55E"/>
                </a:solidFill>
              </a:defRPr>
            </a:pPr>
            <a:r>
              <a:t>• Course Isolation Release Gate: </a:t>
            </a:r>
            <a:r>
              <a:rPr b="0">
                <a:solidFill>
                  <a:srgbClr val="F8FAFC"/>
                </a:solidFill>
              </a:rPr>
              <a:t>0.0 Cross-Course Leakage Violations (Target: 0.0) — Strict SQL tenant filtering.</a:t>
            </a:r>
          </a:p>
          <a:p>
            <a:pPr>
              <a:defRPr b="1" sz="1600">
                <a:solidFill>
                  <a:srgbClr val="22C55E"/>
                </a:solidFill>
              </a:defRPr>
            </a:pPr>
            <a:r>
              <a:t>• Unsupported Question Abstention: </a:t>
            </a:r>
            <a:r>
              <a:rPr b="0">
                <a:solidFill>
                  <a:srgbClr val="F8FAFC"/>
                </a:solidFill>
              </a:rPr>
              <a:t>1.0 (100%) Abstention Rate on out-of-domain queries — Verified anti-hallucination protection.</a:t>
            </a:r>
          </a:p>
          <a:p>
            <a:pPr>
              <a:defRPr b="1" sz="1600">
                <a:solidFill>
                  <a:srgbClr val="22C55E"/>
                </a:solidFill>
              </a:defRPr>
            </a:pPr>
            <a:r>
              <a:t>• Reproducible Test Harness: </a:t>
            </a:r>
            <a:r>
              <a:rPr b="0">
                <a:solidFill>
                  <a:srgbClr val="F8FAFC"/>
                </a:solidFill>
              </a:rPr>
              <a:t>Versioned JSONL test cases in backend/evaluation/ with automated reporting.</a:t>
            </a:r>
          </a:p>
          <a:p>
            <a:pPr>
              <a:defRPr b="1" sz="1600">
                <a:solidFill>
                  <a:srgbClr val="22C55E"/>
                </a:solidFill>
              </a:defRPr>
            </a:pPr>
            <a:r>
              <a:t>• Honest Engineering Disclosure: </a:t>
            </a:r>
            <a:r>
              <a:rPr b="0">
                <a:solidFill>
                  <a:srgbClr val="F8FAFC"/>
                </a:solidFill>
              </a:rPr>
              <a:t>Unit tests verify software correctness; longitudinal learning gains require human clinical trials.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VIDYA-X AI — HACKATHON PITCH</a:t>
            </a:r>
          </a:p>
          <a:p>
            <a:pPr>
              <a:defRPr sz="2600" b="1">
                <a:solidFill>
                  <a:srgbClr val="F8FAFC"/>
                </a:solidFill>
              </a:defRPr>
            </a:pPr>
            <a:r>
              <a:t>Impact &amp; Next Steps: From Hackathon to University Deployments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600">
                <a:solidFill>
                  <a:srgbClr val="38BDF8"/>
                </a:solidFill>
              </a:defRPr>
            </a:pPr>
            <a:r>
              <a:t>• Production Hardened: </a:t>
            </a:r>
            <a:r>
              <a:rPr b="0">
                <a:solidFill>
                  <a:srgbClr val="F8FAFC"/>
                </a:solidFill>
              </a:rPr>
              <a:t>Multi-stage Docker, health probes (/health, /health/ready), and smoke test automation.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LMS Integration (Next): </a:t>
            </a:r>
            <a:r>
              <a:rPr b="0">
                <a:solidFill>
                  <a:srgbClr val="F8FAFC"/>
                </a:solidFill>
              </a:rPr>
              <a:t>Connect via LTI 1.3 to university Canvas and Blackboard course shells.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Collaborative Peer Study: </a:t>
            </a:r>
            <a:r>
              <a:rPr b="0">
                <a:solidFill>
                  <a:srgbClr val="F8FAFC"/>
                </a:solidFill>
              </a:rPr>
              <a:t>Multi-student shared review decks and cohort-level misconception analytics for professors.</a:t>
            </a:r>
          </a:p>
          <a:p>
            <a:pPr>
              <a:defRPr b="1" sz="1600">
                <a:solidFill>
                  <a:srgbClr val="38BDF8"/>
                </a:solidFill>
              </a:defRPr>
            </a:pPr>
            <a:r>
              <a:t>• Core Philosophy: </a:t>
            </a:r>
            <a:r>
              <a:rPr b="0">
                <a:solidFill>
                  <a:srgbClr val="F8FAFC"/>
                </a:solidFill>
              </a:rPr>
              <a:t>"Learn from your material. Get cited answers. Practice intelligently. Improve continuously."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